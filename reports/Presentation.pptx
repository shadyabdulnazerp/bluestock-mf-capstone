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324" r:id="rId5"/>
    <p:sldId id="302" r:id="rId6"/>
    <p:sldId id="315" r:id="rId7"/>
    <p:sldId id="325" r:id="rId8"/>
    <p:sldId id="294" r:id="rId9"/>
    <p:sldId id="295" r:id="rId10"/>
    <p:sldId id="311" r:id="rId11"/>
    <p:sldId id="304" r:id="rId12"/>
    <p:sldId id="314" r:id="rId13"/>
    <p:sldId id="310" r:id="rId14"/>
    <p:sldId id="312" r:id="rId15"/>
    <p:sldId id="327" r:id="rId16"/>
    <p:sldId id="328" r:id="rId17"/>
    <p:sldId id="331" r:id="rId18"/>
    <p:sldId id="329" r:id="rId19"/>
    <p:sldId id="313" r:id="rId20"/>
    <p:sldId id="330" r:id="rId21"/>
    <p:sldId id="32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033" autoAdjust="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6/12/2026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65856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97440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1AD702D-965C-40E9-8D23-D82E2CFA9E61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6/12/2026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A05B6A-9124-4DBB-843A-84818A8F79FC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xfrm>
            <a:off x="0" y="0"/>
            <a:ext cx="12192000" cy="6858000"/>
          </a:xfrm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BLUESTOCK MUTUAL FUND ANALYTICS CAPSTONE PROJECT</a:t>
            </a:r>
            <a:endParaRPr lang="en-US" sz="28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FAF4E3-C8A2-4861-A67E-040D885F84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just"/>
            <a:r>
              <a:rPr lang="en-IN" sz="1600" dirty="0"/>
              <a:t>End-to-End Financial Analytics using Python, SQLite &amp; Power B</a:t>
            </a:r>
            <a:endParaRPr lang="en-US" sz="16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5360565"/>
            <a:ext cx="3222836" cy="267070"/>
          </a:xfrm>
        </p:spPr>
        <p:txBody>
          <a:bodyPr/>
          <a:lstStyle/>
          <a:p>
            <a:r>
              <a:rPr lang="en-IN" dirty="0"/>
              <a:t>Shady Abdul Nazer P</a:t>
            </a:r>
            <a:endParaRPr lang="en-US" dirty="0"/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4107" y="1594622"/>
            <a:ext cx="5299529" cy="4596168"/>
          </a:xfrm>
        </p:spPr>
        <p:txBody>
          <a:bodyPr/>
          <a:lstStyle/>
          <a:p>
            <a:pPr marL="0" indent="0" algn="just">
              <a:buNone/>
            </a:pPr>
            <a:r>
              <a:rPr lang="en-IN" sz="1600" dirty="0"/>
              <a:t>The project focuses on building a complete mutual fund analytics solution capable of:</a:t>
            </a:r>
          </a:p>
          <a:p>
            <a:pPr algn="just"/>
            <a:r>
              <a:rPr lang="en-IN" sz="1600" dirty="0"/>
              <a:t>Performing ETL and data cleaning</a:t>
            </a:r>
          </a:p>
          <a:p>
            <a:pPr algn="just"/>
            <a:r>
              <a:rPr lang="en-IN" sz="1600" dirty="0"/>
              <a:t>Analysing fund performance</a:t>
            </a:r>
          </a:p>
          <a:p>
            <a:pPr algn="just"/>
            <a:r>
              <a:rPr lang="en-IN" sz="1600" dirty="0"/>
              <a:t>Evaluating investor behaviour</a:t>
            </a:r>
          </a:p>
          <a:p>
            <a:pPr algn="just"/>
            <a:r>
              <a:rPr lang="en-IN" sz="1600" dirty="0"/>
              <a:t>Computing financial risk metrics</a:t>
            </a:r>
          </a:p>
          <a:p>
            <a:pPr algn="just"/>
            <a:r>
              <a:rPr lang="en-IN" sz="1600" dirty="0"/>
              <a:t>Creating interactive dashboards</a:t>
            </a:r>
          </a:p>
          <a:p>
            <a:pPr marL="0" indent="0" algn="just">
              <a:buNone/>
            </a:pPr>
            <a:r>
              <a:rPr lang="en-IN" sz="1600" b="1" dirty="0"/>
              <a:t>Business Goal</a:t>
            </a:r>
          </a:p>
          <a:p>
            <a:pPr algn="just"/>
            <a:r>
              <a:rPr lang="en-IN" sz="1600" dirty="0"/>
              <a:t>To generate actionable investment insights using analytics and business intelligence tools.</a:t>
            </a:r>
          </a:p>
        </p:txBody>
      </p:sp>
      <p:pic>
        <p:nvPicPr>
          <p:cNvPr id="11" name="Picture Placeholder 10" descr="close up of building">
            <a:extLst>
              <a:ext uri="{FF2B5EF4-FFF2-40B4-BE49-F238E27FC236}">
                <a16:creationId xmlns:a16="http://schemas.microsoft.com/office/drawing/2014/main" id="{1CE2008D-DBCE-465F-90DA-B28A4E5251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5351" r="1535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EF53E3-F88C-4203-A489-8C9D57513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066972" cy="830997"/>
          </a:xfrm>
        </p:spPr>
        <p:txBody>
          <a:bodyPr/>
          <a:lstStyle/>
          <a:p>
            <a:r>
              <a:rPr lang="en-IN" dirty="0"/>
              <a:t>Tools &amp; Technologies</a:t>
            </a:r>
            <a:endParaRPr lang="en-US" dirty="0"/>
          </a:p>
        </p:txBody>
      </p:sp>
      <p:pic>
        <p:nvPicPr>
          <p:cNvPr id="4" name="Picture Placeholder 3" descr="close up of building">
            <a:extLst>
              <a:ext uri="{FF2B5EF4-FFF2-40B4-BE49-F238E27FC236}">
                <a16:creationId xmlns:a16="http://schemas.microsoft.com/office/drawing/2014/main" id="{5EAB7860-C105-46A8-8B51-C886DCFAB52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2544" r="22544"/>
          <a:stretch>
            <a:fillRect/>
          </a:stretch>
        </p:blipFill>
        <p:spPr/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F5B88307-58CF-E332-F0C1-A31C0541C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615593"/>
              </p:ext>
            </p:extLst>
          </p:nvPr>
        </p:nvGraphicFramePr>
        <p:xfrm>
          <a:off x="253533" y="2296796"/>
          <a:ext cx="5996266" cy="29260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998133">
                  <a:extLst>
                    <a:ext uri="{9D8B030D-6E8A-4147-A177-3AD203B41FA5}">
                      <a16:colId xmlns:a16="http://schemas.microsoft.com/office/drawing/2014/main" val="1535380480"/>
                    </a:ext>
                  </a:extLst>
                </a:gridCol>
                <a:gridCol w="2998133">
                  <a:extLst>
                    <a:ext uri="{9D8B030D-6E8A-4147-A177-3AD203B41FA5}">
                      <a16:colId xmlns:a16="http://schemas.microsoft.com/office/drawing/2014/main" val="760716516"/>
                    </a:ext>
                  </a:extLst>
                </a:gridCol>
              </a:tblGrid>
              <a:tr h="3064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226040"/>
                  </a:ext>
                </a:extLst>
              </a:tr>
              <a:tr h="3064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6588130"/>
                  </a:ext>
                </a:extLst>
              </a:tr>
              <a:tr h="3064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Pandas &amp; NumPy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Analytics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346803"/>
                  </a:ext>
                </a:extLst>
              </a:tr>
              <a:tr h="306422">
                <a:tc>
                  <a:txBody>
                    <a:bodyPr/>
                    <a:lstStyle/>
                    <a:p>
                      <a:r>
                        <a:rPr lang="en-IN" dirty="0"/>
                        <a:t>SQLite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733942"/>
                  </a:ext>
                </a:extLst>
              </a:tr>
              <a:tr h="3064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SQLAlchemy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Database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1275421"/>
                  </a:ext>
                </a:extLst>
              </a:tr>
              <a:tr h="3064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Matplotlib &amp; Seaborn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Visualisation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967174"/>
                  </a:ext>
                </a:extLst>
              </a:tr>
              <a:tr h="3064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Power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Interactive dashboard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078857"/>
                  </a:ext>
                </a:extLst>
              </a:tr>
              <a:tr h="306422">
                <a:tc>
                  <a:txBody>
                    <a:bodyPr/>
                    <a:lstStyle/>
                    <a:p>
                      <a:r>
                        <a:rPr lang="en-IN" dirty="0"/>
                        <a:t>Git &amp; 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Version 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922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Escalators">
            <a:extLst>
              <a:ext uri="{FF2B5EF4-FFF2-40B4-BE49-F238E27FC236}">
                <a16:creationId xmlns:a16="http://schemas.microsoft.com/office/drawing/2014/main" id="{067ABCFB-135D-465A-8D06-3042F9E75BB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60000"/>
          </a:blip>
          <a:srcRect t="6729" r="33992" b="40721"/>
          <a:stretch/>
        </p:blipFill>
        <p:spPr>
          <a:xfrm>
            <a:off x="15605" y="0"/>
            <a:ext cx="12192001" cy="6858000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310966-9752-4035-9DD5-FFBC93FC0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3D9E7E43-0082-4819-947F-94AD5664F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DATASETS USED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F64F07-1F8D-4F69-87E4-03E837E97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18168" y="1181123"/>
            <a:ext cx="459924" cy="4599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0393EC-C7F4-46AA-8768-FF7CD4DE0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31920" y="5840880"/>
            <a:ext cx="284372" cy="2843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251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EEDAF89-0ECD-416A-93E5-A300FF0B9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02CAB3-E665-5616-9FAF-E9042D14EBCC}"/>
              </a:ext>
            </a:extLst>
          </p:cNvPr>
          <p:cNvSpPr txBox="1"/>
          <p:nvPr/>
        </p:nvSpPr>
        <p:spPr>
          <a:xfrm>
            <a:off x="2382473" y="2340528"/>
            <a:ext cx="34730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Fund Master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NAV History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Monthly SIP Inflows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Investor Transactions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Scheme Performance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Portfolio Holdings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Benchmark Indices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Industry Folio Count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Category Inflows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5513C6-41F9-14DB-FF10-3A4BD64C17AB}"/>
              </a:ext>
            </a:extLst>
          </p:cNvPr>
          <p:cNvSpPr txBox="1"/>
          <p:nvPr/>
        </p:nvSpPr>
        <p:spPr>
          <a:xfrm>
            <a:off x="6761527" y="2340528"/>
            <a:ext cx="42699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Total Schemes Analysed</a:t>
            </a:r>
          </a:p>
          <a:p>
            <a:r>
              <a:rPr lang="en-IN" dirty="0"/>
              <a:t>40 Mutual Fund Schemes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00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86A9EC-640F-47FB-AA92-2851B3012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ETL &amp; DATA CLEANING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490C7D-619C-C69A-841C-ABD7D9412CBA}"/>
              </a:ext>
            </a:extLst>
          </p:cNvPr>
          <p:cNvSpPr txBox="1"/>
          <p:nvPr/>
        </p:nvSpPr>
        <p:spPr>
          <a:xfrm>
            <a:off x="1048624" y="2013358"/>
            <a:ext cx="10058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Data Cleaning Operations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Datetime conversion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Missing value handling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Forward filling NAV values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Duplicate removal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Validation of transaction types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Risk grade standardisation</a:t>
            </a:r>
          </a:p>
          <a:p>
            <a:endParaRPr lang="en-IN" dirty="0"/>
          </a:p>
          <a:p>
            <a:r>
              <a:rPr lang="en-IN" b="1" dirty="0"/>
              <a:t>Output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Cleaned datasets stored in: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data/processed/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SQLite database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5421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B89E9C66-E38F-4FFF-B1A6-BA4E05DD8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5435600" cy="830997"/>
          </a:xfrm>
        </p:spPr>
        <p:txBody>
          <a:bodyPr/>
          <a:lstStyle/>
          <a:p>
            <a:r>
              <a:rPr lang="en-IN" dirty="0"/>
              <a:t>DATABASE DESIGN</a:t>
            </a:r>
            <a:endParaRPr lang="en-US" dirty="0"/>
          </a:p>
        </p:txBody>
      </p:sp>
      <p:pic>
        <p:nvPicPr>
          <p:cNvPr id="42" name="Picture Placeholder 3" descr="close up of building">
            <a:extLst>
              <a:ext uri="{FF2B5EF4-FFF2-40B4-BE49-F238E27FC236}">
                <a16:creationId xmlns:a16="http://schemas.microsoft.com/office/drawing/2014/main" id="{5A9FCEFE-ADCB-4861-8CEA-A074136512A6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/>
          <a:srcRect t="13712" b="13712"/>
          <a:stretch>
            <a:fillRect/>
          </a:stretch>
        </p:blipFill>
        <p:spPr>
          <a:xfrm>
            <a:off x="9393238" y="0"/>
            <a:ext cx="2798762" cy="1354138"/>
          </a:xfrm>
          <a:custGeom>
            <a:avLst/>
            <a:gdLst>
              <a:gd name="connsiteX0" fmla="*/ 316595 w 2798762"/>
              <a:gd name="connsiteY0" fmla="*/ 369378 h 1635849"/>
              <a:gd name="connsiteX1" fmla="*/ 1152465 w 2798762"/>
              <a:gd name="connsiteY1" fmla="*/ 369378 h 1635849"/>
              <a:gd name="connsiteX2" fmla="*/ 1469083 w 2798762"/>
              <a:gd name="connsiteY2" fmla="*/ 1002614 h 1635849"/>
              <a:gd name="connsiteX3" fmla="*/ 1152465 w 2798762"/>
              <a:gd name="connsiteY3" fmla="*/ 1635849 h 1635849"/>
              <a:gd name="connsiteX4" fmla="*/ 316595 w 2798762"/>
              <a:gd name="connsiteY4" fmla="*/ 1635849 h 1635849"/>
              <a:gd name="connsiteX5" fmla="*/ 0 w 2798762"/>
              <a:gd name="connsiteY5" fmla="*/ 1002660 h 1635849"/>
              <a:gd name="connsiteX6" fmla="*/ 0 w 2798762"/>
              <a:gd name="connsiteY6" fmla="*/ 1002568 h 1635849"/>
              <a:gd name="connsiteX7" fmla="*/ 1193125 w 2798762"/>
              <a:gd name="connsiteY7" fmla="*/ 0 h 1635849"/>
              <a:gd name="connsiteX8" fmla="*/ 2798762 w 2798762"/>
              <a:gd name="connsiteY8" fmla="*/ 0 h 1635849"/>
              <a:gd name="connsiteX9" fmla="*/ 2798762 w 2798762"/>
              <a:gd name="connsiteY9" fmla="*/ 786966 h 1635849"/>
              <a:gd name="connsiteX10" fmla="*/ 2719777 w 2798762"/>
              <a:gd name="connsiteY10" fmla="*/ 944936 h 1635849"/>
              <a:gd name="connsiteX11" fmla="*/ 1582346 w 2798762"/>
              <a:gd name="connsiteY11" fmla="*/ 944936 h 1635849"/>
              <a:gd name="connsiteX12" fmla="*/ 1151501 w 2798762"/>
              <a:gd name="connsiteY12" fmla="*/ 83246 h 1635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98762" h="1635849">
                <a:moveTo>
                  <a:pt x="316595" y="369378"/>
                </a:moveTo>
                <a:lnTo>
                  <a:pt x="1152465" y="369378"/>
                </a:lnTo>
                <a:lnTo>
                  <a:pt x="1469083" y="1002614"/>
                </a:lnTo>
                <a:lnTo>
                  <a:pt x="1152465" y="1635849"/>
                </a:lnTo>
                <a:lnTo>
                  <a:pt x="316595" y="1635849"/>
                </a:lnTo>
                <a:lnTo>
                  <a:pt x="0" y="1002660"/>
                </a:lnTo>
                <a:lnTo>
                  <a:pt x="0" y="1002568"/>
                </a:lnTo>
                <a:close/>
                <a:moveTo>
                  <a:pt x="1193125" y="0"/>
                </a:moveTo>
                <a:lnTo>
                  <a:pt x="2798762" y="0"/>
                </a:lnTo>
                <a:lnTo>
                  <a:pt x="2798762" y="786966"/>
                </a:lnTo>
                <a:lnTo>
                  <a:pt x="2719777" y="944936"/>
                </a:lnTo>
                <a:lnTo>
                  <a:pt x="1582346" y="944936"/>
                </a:lnTo>
                <a:lnTo>
                  <a:pt x="1151501" y="83246"/>
                </a:lnTo>
                <a:close/>
              </a:path>
            </a:pathLst>
          </a:cu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FCE041C-95BD-44D2-B6C1-24D83ADE17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Dimension Tables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0AED82-F4F3-044A-B30A-FD32531BD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 err="1"/>
              <a:t>dim_fund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 err="1"/>
              <a:t>dim_date</a:t>
            </a:r>
            <a:endParaRPr lang="en-US" dirty="0"/>
          </a:p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5DCF7EA-3411-4C0C-80B9-EA80529F642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IN" dirty="0"/>
              <a:t>Fact Tables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F833AD6-5D57-BE44-8842-EAACC39A6BE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 dirty="0" err="1"/>
              <a:t>fact_nav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 err="1"/>
              <a:t>fact_transactions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 err="1"/>
              <a:t>fact_performance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 err="1"/>
              <a:t>fact_aum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EB1EB18-010F-4370-A5A6-0A68EC2345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N" dirty="0"/>
              <a:t>Features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9205F1B-456F-AF42-81AD-D646AEB4F7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Optimised analytical queries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Relationship modelling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Power BI integration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608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 algn="ctr"/>
            <a:r>
              <a:rPr lang="en-IN" sz="4800" dirty="0"/>
              <a:t>EXPLORATORY DATA ANALYSIS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B122B5B8-1BE2-44F4-94EE-51D52B4D04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00670" y="2071662"/>
            <a:ext cx="2139696" cy="344312"/>
          </a:xfrm>
        </p:spPr>
        <p:txBody>
          <a:bodyPr/>
          <a:lstStyle/>
          <a:p>
            <a:r>
              <a:rPr lang="en-IN" dirty="0"/>
              <a:t>EDA Performed</a:t>
            </a:r>
          </a:p>
          <a:p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4998361E-ED50-43C1-A2AE-2397B1E6CD5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909108" y="2243818"/>
            <a:ext cx="3862517" cy="3460695"/>
          </a:xfrm>
        </p:spPr>
        <p:txBody>
          <a:bodyPr/>
          <a:lstStyle/>
          <a:p>
            <a:pPr algn="l"/>
            <a:endParaRPr lang="en-IN" b="1" dirty="0"/>
          </a:p>
          <a:p>
            <a:pPr algn="l"/>
            <a:r>
              <a:rPr lang="en-IN" dirty="0"/>
              <a:t>NAV trend analysis</a:t>
            </a:r>
          </a:p>
          <a:p>
            <a:pPr algn="l"/>
            <a:r>
              <a:rPr lang="en-IN" dirty="0"/>
              <a:t>SIP inflow analysis</a:t>
            </a:r>
          </a:p>
          <a:p>
            <a:pPr algn="l"/>
            <a:r>
              <a:rPr lang="en-IN" dirty="0"/>
              <a:t>Category inflow heatmaps</a:t>
            </a:r>
          </a:p>
          <a:p>
            <a:pPr algn="l"/>
            <a:r>
              <a:rPr lang="en-IN" dirty="0"/>
              <a:t>Investor demographic analysis</a:t>
            </a:r>
          </a:p>
          <a:p>
            <a:pPr algn="l"/>
            <a:r>
              <a:rPr lang="en-IN" dirty="0"/>
              <a:t>Geographic investment analysis</a:t>
            </a:r>
          </a:p>
          <a:p>
            <a:pPr algn="l"/>
            <a:r>
              <a:rPr lang="en-IN" dirty="0"/>
              <a:t>Sector allocation analysis</a:t>
            </a:r>
          </a:p>
          <a:p>
            <a:pPr algn="l"/>
            <a:r>
              <a:rPr lang="en-IN" b="1" dirty="0"/>
              <a:t>Key Observation</a:t>
            </a:r>
          </a:p>
          <a:p>
            <a:pPr algn="l"/>
            <a:r>
              <a:rPr lang="en-IN" dirty="0"/>
              <a:t>SIP inflows and folio counts showed strong growth from 2022 to 2025.</a:t>
            </a:r>
          </a:p>
          <a:p>
            <a:pPr algn="l"/>
            <a:br>
              <a:rPr lang="en-IN" dirty="0"/>
            </a:br>
            <a:endParaRPr lang="en-IN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64" y="1117863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IN" sz="4800" b="1" dirty="0"/>
              <a:t>EXECUTIVE DASHBOARD</a:t>
            </a:r>
            <a:br>
              <a:rPr lang="en-IN" sz="4800" b="1" dirty="0"/>
            </a:b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4CA3F56-6B4F-4DFF-B133-DBA85DE68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1694" y="2518078"/>
            <a:ext cx="2506948" cy="301502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156482F-4317-491F-AFBA-E1AC4F3EE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14786" y="2518078"/>
            <a:ext cx="2487168" cy="301502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A92DCAA-7A96-4807-96C2-97D8D1B18BDD}"/>
              </a:ext>
            </a:extLst>
          </p:cNvPr>
          <p:cNvSpPr txBox="1"/>
          <p:nvPr/>
        </p:nvSpPr>
        <p:spPr>
          <a:xfrm>
            <a:off x="10751050" y="2410633"/>
            <a:ext cx="7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  <a:cs typeface="Biome Light" panose="020B0303030204020804" pitchFamily="34" charset="0"/>
              </a:rPr>
              <a:t>Jun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9097234-38E0-4114-A29F-508805824B65}"/>
              </a:ext>
            </a:extLst>
          </p:cNvPr>
          <p:cNvSpPr txBox="1"/>
          <p:nvPr/>
        </p:nvSpPr>
        <p:spPr>
          <a:xfrm>
            <a:off x="1425706" y="2981095"/>
            <a:ext cx="2085110" cy="1609290"/>
          </a:xfrm>
          <a:prstGeom prst="rect">
            <a:avLst/>
          </a:prstGeom>
          <a:noFill/>
        </p:spPr>
        <p:txBody>
          <a:bodyPr wrap="square" rIns="0" rtlCol="0">
            <a:noAutofit/>
          </a:bodyPr>
          <a:lstStyle/>
          <a:p>
            <a:r>
              <a:rPr lang="en-IN" sz="1400" b="1" dirty="0"/>
              <a:t>Dashboard Features</a:t>
            </a:r>
          </a:p>
          <a:p>
            <a:r>
              <a:rPr lang="en-IN" sz="1400" dirty="0"/>
              <a:t>KPI cards</a:t>
            </a:r>
          </a:p>
          <a:p>
            <a:r>
              <a:rPr lang="en-IN" sz="1400" dirty="0"/>
              <a:t>NAV growth trend</a:t>
            </a:r>
          </a:p>
          <a:p>
            <a:r>
              <a:rPr lang="en-IN" sz="1400" dirty="0"/>
              <a:t>SIP trend analysis</a:t>
            </a:r>
          </a:p>
          <a:p>
            <a:r>
              <a:rPr lang="en-IN" sz="1400" dirty="0"/>
              <a:t>Folio growth analysis</a:t>
            </a:r>
          </a:p>
          <a:p>
            <a:r>
              <a:rPr lang="en-IN" sz="1400" dirty="0"/>
              <a:t>Interactive slicers</a:t>
            </a:r>
          </a:p>
          <a:p>
            <a:pPr algn="ctr"/>
            <a:endParaRPr lang="en-US" sz="1400" dirty="0">
              <a:cs typeface="Biome Light" panose="020B03030302040208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89E278-8976-4219-B8E5-16D2E65CD0E0}"/>
              </a:ext>
            </a:extLst>
          </p:cNvPr>
          <p:cNvSpPr txBox="1"/>
          <p:nvPr/>
        </p:nvSpPr>
        <p:spPr>
          <a:xfrm>
            <a:off x="3932654" y="2981095"/>
            <a:ext cx="2085110" cy="1609290"/>
          </a:xfrm>
          <a:prstGeom prst="rect">
            <a:avLst/>
          </a:prstGeom>
          <a:noFill/>
        </p:spPr>
        <p:txBody>
          <a:bodyPr wrap="square" rIns="0" rtlCol="0">
            <a:noAutofit/>
          </a:bodyPr>
          <a:lstStyle/>
          <a:p>
            <a:r>
              <a:rPr lang="en-IN" sz="1400" b="1" dirty="0"/>
              <a:t>Key KPIs</a:t>
            </a:r>
          </a:p>
          <a:p>
            <a:r>
              <a:rPr lang="en-IN" sz="1400" dirty="0"/>
              <a:t>Total AUM</a:t>
            </a:r>
          </a:p>
          <a:p>
            <a:r>
              <a:rPr lang="en-IN" sz="1400" dirty="0"/>
              <a:t>Total SIP Inflow</a:t>
            </a:r>
          </a:p>
          <a:p>
            <a:r>
              <a:rPr lang="en-IN" sz="1400" dirty="0"/>
              <a:t>Average CAGR</a:t>
            </a:r>
          </a:p>
          <a:p>
            <a:r>
              <a:rPr lang="en-IN" sz="1400" dirty="0"/>
              <a:t>Average Sharpe Ratio</a:t>
            </a:r>
          </a:p>
          <a:p>
            <a:r>
              <a:rPr lang="en-IN" sz="1400" dirty="0"/>
              <a:t>Total Folios</a:t>
            </a:r>
          </a:p>
          <a:p>
            <a:pPr algn="ctr"/>
            <a:endParaRPr lang="en-US" sz="1400" dirty="0">
              <a:cs typeface="Biome Light" panose="020B03030302040208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72A688-E43E-FF5D-9BA5-007DC729C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372" y="2518079"/>
            <a:ext cx="5140936" cy="301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314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7E6D6-C63D-4A7C-B1F1-1E8117B25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7955094" cy="830997"/>
          </a:xfrm>
        </p:spPr>
        <p:txBody>
          <a:bodyPr/>
          <a:lstStyle/>
          <a:p>
            <a:r>
              <a:rPr lang="en-IN" sz="4000" dirty="0"/>
              <a:t>FUND PERFORMANCE ANALYTICS</a:t>
            </a:r>
            <a:endParaRPr lang="en-US" sz="4000" dirty="0"/>
          </a:p>
        </p:txBody>
      </p:sp>
      <p:pic>
        <p:nvPicPr>
          <p:cNvPr id="25" name="Picture Placeholder 4" descr="close up of building">
            <a:extLst>
              <a:ext uri="{FF2B5EF4-FFF2-40B4-BE49-F238E27FC236}">
                <a16:creationId xmlns:a16="http://schemas.microsoft.com/office/drawing/2014/main" id="{B43125FE-4923-4B38-ADD6-3F547696AB11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2"/>
          <a:srcRect t="10082" b="10082"/>
          <a:stretch/>
        </p:blipFill>
        <p:spPr>
          <a:xfrm>
            <a:off x="9261475" y="0"/>
            <a:ext cx="2930525" cy="1560513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127DC06-E3ED-47AA-A80C-6DC3AB8A23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Metrics Computed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6982E48-3FB5-4F2E-AE87-E5E0838657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513725"/>
            <a:ext cx="5067300" cy="2935288"/>
          </a:xfrm>
        </p:spPr>
        <p:txBody>
          <a:bodyPr/>
          <a:lstStyle/>
          <a:p>
            <a:r>
              <a:rPr lang="en-IN" sz="1800" dirty="0"/>
              <a:t>CAGR</a:t>
            </a:r>
          </a:p>
          <a:p>
            <a:pPr marL="0" indent="0">
              <a:buNone/>
            </a:pPr>
            <a:endParaRPr lang="en-IN" sz="1800" dirty="0"/>
          </a:p>
          <a:p>
            <a:r>
              <a:rPr lang="en-IN" sz="1800" dirty="0"/>
              <a:t>Sharpe Ratio</a:t>
            </a:r>
          </a:p>
          <a:p>
            <a:pPr marL="0" indent="0">
              <a:buNone/>
            </a:pPr>
            <a:endParaRPr lang="en-IN" sz="1800" dirty="0"/>
          </a:p>
          <a:p>
            <a:r>
              <a:rPr lang="en-IN" sz="1800" dirty="0"/>
              <a:t>Sortino Ratio</a:t>
            </a:r>
          </a:p>
          <a:p>
            <a:pPr marL="0" indent="0">
              <a:buNone/>
            </a:pPr>
            <a:endParaRPr lang="en-IN" sz="1800" dirty="0"/>
          </a:p>
          <a:p>
            <a:r>
              <a:rPr lang="en-IN" sz="1800" dirty="0"/>
              <a:t>Alpha &amp; Beta</a:t>
            </a:r>
          </a:p>
          <a:p>
            <a:pPr marL="0" indent="0">
              <a:buNone/>
            </a:pPr>
            <a:endParaRPr lang="en-IN" sz="1800" dirty="0"/>
          </a:p>
          <a:p>
            <a:r>
              <a:rPr lang="en-IN" sz="1800" dirty="0"/>
              <a:t>Maximum Drawdown</a:t>
            </a:r>
            <a:br>
              <a:rPr lang="en-US" sz="1800" dirty="0"/>
            </a:b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42BCCC6-6D52-4984-A92F-8B1A8A90321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83901" y="2075575"/>
            <a:ext cx="5080000" cy="438150"/>
          </a:xfrm>
        </p:spPr>
        <p:txBody>
          <a:bodyPr/>
          <a:lstStyle/>
          <a:p>
            <a:r>
              <a:rPr lang="en-IN" dirty="0"/>
              <a:t>Features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5E2CA68-BFC9-485F-A53E-F4C27258EF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96601" y="2651900"/>
            <a:ext cx="5067300" cy="2935288"/>
          </a:xfrm>
        </p:spPr>
        <p:txBody>
          <a:bodyPr/>
          <a:lstStyle/>
          <a:p>
            <a:r>
              <a:rPr lang="en-IN" dirty="0"/>
              <a:t>Risk-adjusted return analysis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Benchmark comparison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Top-performing funds ranking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IN" b="1" dirty="0"/>
              <a:t>Key Observation</a:t>
            </a:r>
          </a:p>
          <a:p>
            <a:pPr marL="0" indent="0">
              <a:buNone/>
            </a:pPr>
            <a:r>
              <a:rPr lang="en-IN" dirty="0"/>
              <a:t>Funds with higher Sharpe Ratios demonstrated better long-term stability.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64E988-6752-7D67-1798-AB28BA390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694" y="2075576"/>
            <a:ext cx="4133606" cy="3083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378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7F211-ED25-4BED-862A-17F84B323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INVESTOR ANALYTICS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302878-D117-49D8-8CD3-093E34DF215B}"/>
              </a:ext>
            </a:extLst>
          </p:cNvPr>
          <p:cNvSpPr txBox="1"/>
          <p:nvPr/>
        </p:nvSpPr>
        <p:spPr>
          <a:xfrm>
            <a:off x="660400" y="2139880"/>
            <a:ext cx="3657600" cy="3273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Analysis Performed</a:t>
            </a:r>
          </a:p>
          <a:p>
            <a:r>
              <a:rPr lang="en-IN" sz="1600" dirty="0"/>
              <a:t>Age group distribution</a:t>
            </a:r>
          </a:p>
          <a:p>
            <a:r>
              <a:rPr lang="en-IN" sz="1600" dirty="0"/>
              <a:t>Gender-wise investment analysis</a:t>
            </a:r>
          </a:p>
          <a:p>
            <a:r>
              <a:rPr lang="en-IN" sz="1600" dirty="0"/>
              <a:t>State-wise SIP contribution</a:t>
            </a:r>
          </a:p>
          <a:p>
            <a:r>
              <a:rPr lang="en-IN" sz="1600" dirty="0"/>
              <a:t>Investor demographic patterns</a:t>
            </a:r>
          </a:p>
          <a:p>
            <a:endParaRPr lang="en-IN" sz="1600" dirty="0"/>
          </a:p>
          <a:p>
            <a:r>
              <a:rPr lang="en-IN" sz="2000" b="1" dirty="0">
                <a:solidFill>
                  <a:schemeClr val="accent4"/>
                </a:solidFill>
              </a:rPr>
              <a:t>Key Observation</a:t>
            </a:r>
          </a:p>
          <a:p>
            <a:r>
              <a:rPr lang="en-IN" sz="1600" dirty="0"/>
              <a:t>Majority of investors belong to the 26–35 age group</a:t>
            </a:r>
          </a:p>
          <a:p>
            <a:r>
              <a:rPr lang="en-IN" sz="1600" dirty="0"/>
              <a:t>Male investors contributed the highest transaction volume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Biome Light" panose="020B03030302040208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8B22D3-9861-79EF-66E9-34C0D2C6A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223" y="1794571"/>
            <a:ext cx="6774913" cy="379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671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EAE957-0440-FE4F-E0A0-ACC79A5F0F0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50336" y="2088212"/>
            <a:ext cx="4482440" cy="3645340"/>
          </a:xfrm>
        </p:spPr>
        <p:txBody>
          <a:bodyPr/>
          <a:lstStyle/>
          <a:p>
            <a:r>
              <a:rPr lang="en-IN" dirty="0"/>
              <a:t>Analysis Performed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</a:rPr>
              <a:t>Sector allocation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</a:rPr>
              <a:t>Portfolio diversification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</a:rPr>
              <a:t>Category inflow heatmap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err="1">
                <a:solidFill>
                  <a:schemeClr val="tx1"/>
                </a:solidFill>
              </a:rPr>
              <a:t>Treemap</a:t>
            </a:r>
            <a:r>
              <a:rPr lang="en-IN" dirty="0">
                <a:solidFill>
                  <a:schemeClr val="tx1"/>
                </a:solidFill>
              </a:rPr>
              <a:t> analysis</a:t>
            </a:r>
          </a:p>
          <a:p>
            <a:r>
              <a:rPr lang="en-IN" dirty="0"/>
              <a:t>Key Observation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</a:rPr>
              <a:t>Banking and IT sectors dominated portfolio allocation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</a:rPr>
              <a:t>Liquid funds received highest category inflows</a:t>
            </a:r>
          </a:p>
          <a:p>
            <a:endParaRPr lang="en-IN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2BFEAEE-2313-721A-263A-852A1F7E2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PORTFOLIO &amp; SECTOR ANALYTICS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448A27B-2A11-ABEB-4E82-CEE880C65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776" y="1641605"/>
            <a:ext cx="6329972" cy="3574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323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0207A6-BD95-D385-2395-2952FD8E74F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6532" y="1698447"/>
            <a:ext cx="7974796" cy="4509406"/>
          </a:xfrm>
        </p:spPr>
        <p:txBody>
          <a:bodyPr/>
          <a:lstStyle/>
          <a:p>
            <a:r>
              <a:rPr lang="en-IN" sz="2000" dirty="0"/>
              <a:t>Advanced Metrics Implemented</a:t>
            </a:r>
          </a:p>
          <a:p>
            <a:r>
              <a:rPr lang="en-IN" dirty="0">
                <a:solidFill>
                  <a:schemeClr val="tx1"/>
                </a:solidFill>
              </a:rPr>
              <a:t>Historical </a:t>
            </a:r>
            <a:r>
              <a:rPr lang="en-IN" dirty="0" err="1">
                <a:solidFill>
                  <a:schemeClr val="tx1"/>
                </a:solidFill>
              </a:rPr>
              <a:t>VaR</a:t>
            </a:r>
            <a:r>
              <a:rPr lang="en-IN" dirty="0">
                <a:solidFill>
                  <a:schemeClr val="tx1"/>
                </a:solidFill>
              </a:rPr>
              <a:t> (95%)</a:t>
            </a:r>
          </a:p>
          <a:p>
            <a:r>
              <a:rPr lang="en-IN" dirty="0">
                <a:solidFill>
                  <a:schemeClr val="tx1"/>
                </a:solidFill>
              </a:rPr>
              <a:t>CVaR</a:t>
            </a:r>
          </a:p>
          <a:p>
            <a:r>
              <a:rPr lang="en-IN" dirty="0">
                <a:solidFill>
                  <a:schemeClr val="tx1"/>
                </a:solidFill>
              </a:rPr>
              <a:t>Rolling 90-Day Sharpe Ratio</a:t>
            </a:r>
          </a:p>
          <a:p>
            <a:r>
              <a:rPr lang="en-IN" dirty="0">
                <a:solidFill>
                  <a:schemeClr val="tx1"/>
                </a:solidFill>
              </a:rPr>
              <a:t>SIP continuity analysis</a:t>
            </a:r>
          </a:p>
          <a:p>
            <a:r>
              <a:rPr lang="en-IN" dirty="0">
                <a:solidFill>
                  <a:schemeClr val="tx1"/>
                </a:solidFill>
              </a:rPr>
              <a:t>Investor cohort analysis</a:t>
            </a:r>
          </a:p>
          <a:p>
            <a:r>
              <a:rPr lang="en-IN" dirty="0">
                <a:solidFill>
                  <a:schemeClr val="tx1"/>
                </a:solidFill>
              </a:rPr>
              <a:t>HHI concentration analysis</a:t>
            </a:r>
          </a:p>
          <a:p>
            <a:r>
              <a:rPr lang="en-IN" sz="2000" dirty="0"/>
              <a:t>Fund Recommender System</a:t>
            </a:r>
          </a:p>
          <a:p>
            <a:r>
              <a:rPr lang="en-IN" dirty="0">
                <a:solidFill>
                  <a:schemeClr val="tx1"/>
                </a:solidFill>
              </a:rPr>
              <a:t>Developed a simple recommendation engine based on:</a:t>
            </a:r>
          </a:p>
          <a:p>
            <a:r>
              <a:rPr lang="en-IN" dirty="0">
                <a:solidFill>
                  <a:schemeClr val="tx1"/>
                </a:solidFill>
              </a:rPr>
              <a:t>Risk appetite</a:t>
            </a:r>
          </a:p>
          <a:p>
            <a:r>
              <a:rPr lang="en-IN" dirty="0">
                <a:solidFill>
                  <a:schemeClr val="tx1"/>
                </a:solidFill>
              </a:rPr>
              <a:t>Sharpe Ratio</a:t>
            </a:r>
          </a:p>
          <a:p>
            <a:r>
              <a:rPr lang="en-IN" dirty="0">
                <a:solidFill>
                  <a:schemeClr val="tx1"/>
                </a:solidFill>
              </a:rPr>
              <a:t>Risk grade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062AB1D-E106-F6AD-3CC3-22E4F72CC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ADVANCED ANALYTICS</a:t>
            </a:r>
          </a:p>
        </p:txBody>
      </p:sp>
    </p:spTree>
    <p:extLst>
      <p:ext uri="{BB962C8B-B14F-4D97-AF65-F5344CB8AC3E}">
        <p14:creationId xmlns:p14="http://schemas.microsoft.com/office/powerpoint/2010/main" val="1935857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7E04BD-098D-032F-C2EC-BB1A3E0343C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0400" y="2168230"/>
            <a:ext cx="7186231" cy="2873553"/>
          </a:xfrm>
        </p:spPr>
        <p:txBody>
          <a:bodyPr/>
          <a:lstStyle/>
          <a:p>
            <a:r>
              <a:rPr lang="en-IN" dirty="0"/>
              <a:t>Major Insights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</a:rPr>
              <a:t>SIP inflows increased continuously from 2022–2025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</a:rPr>
              <a:t>Equity funds dominated investor preference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</a:rPr>
              <a:t>High Sharpe Ratio funds delivered better risk-adjusted returns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</a:rPr>
              <a:t>Retail investor participation increased significantly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</a:rPr>
              <a:t>Some funds showed concentrated sector exposure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3DA97B6-EA2C-0B96-4373-CE88A5954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</a:t>
            </a:r>
          </a:p>
        </p:txBody>
      </p:sp>
    </p:spTree>
    <p:extLst>
      <p:ext uri="{BB962C8B-B14F-4D97-AF65-F5344CB8AC3E}">
        <p14:creationId xmlns:p14="http://schemas.microsoft.com/office/powerpoint/2010/main" val="32523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B40604-F88A-2F41-5766-8DFC9792AF4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0088" y="2126285"/>
            <a:ext cx="5567156" cy="2789663"/>
          </a:xfrm>
        </p:spPr>
        <p:txBody>
          <a:bodyPr/>
          <a:lstStyle/>
          <a:p>
            <a:r>
              <a:rPr lang="en-IN" dirty="0"/>
              <a:t>Challenges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</a:rPr>
              <a:t>Handling missing NAV values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</a:rPr>
              <a:t>Managing date hierarchies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</a:rPr>
              <a:t>Building Power BI relationships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</a:rPr>
              <a:t>Computing financial metrics accurately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</a:rPr>
              <a:t>Handling large datasets efficiently</a:t>
            </a:r>
          </a:p>
          <a:p>
            <a:endParaRPr lang="en-IN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A05F627-5ECF-4A8B-4C4D-AEDF11B4C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FACED</a:t>
            </a:r>
          </a:p>
        </p:txBody>
      </p:sp>
    </p:spTree>
    <p:extLst>
      <p:ext uri="{BB962C8B-B14F-4D97-AF65-F5344CB8AC3E}">
        <p14:creationId xmlns:p14="http://schemas.microsoft.com/office/powerpoint/2010/main" val="1694029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A4448-4930-46E0-AD53-50021D9DC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3F6824-E409-4436-9F53-FF50E9FB0C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6222882" cy="2654301"/>
          </a:xfrm>
        </p:spPr>
        <p:txBody>
          <a:bodyPr/>
          <a:lstStyle/>
          <a:p>
            <a:r>
              <a:rPr lang="en-IN" dirty="0"/>
              <a:t>The project successfully implemented: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ETL pipeline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Financial analytics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Risk metric computation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Dashboard visualisation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Advanced investor analytics</a:t>
            </a:r>
          </a:p>
          <a:p>
            <a:r>
              <a:rPr lang="en-IN" dirty="0"/>
              <a:t>The final solution provides an end-to-end mutual fund analytics platform for investment analysis and business intelligence.</a:t>
            </a:r>
          </a:p>
          <a:p>
            <a:endParaRPr lang="en-US" dirty="0"/>
          </a:p>
        </p:txBody>
      </p:sp>
      <p:pic>
        <p:nvPicPr>
          <p:cNvPr id="20" name="Picture Placeholder 8" descr="close up of bridge">
            <a:extLst>
              <a:ext uri="{FF2B5EF4-FFF2-40B4-BE49-F238E27FC236}">
                <a16:creationId xmlns:a16="http://schemas.microsoft.com/office/drawing/2014/main" id="{2EC47CED-7A85-4080-9C7C-3921E48924A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l="17082" r="17082"/>
          <a:stretch/>
        </p:blipFill>
        <p:spPr>
          <a:xfrm>
            <a:off x="5989638" y="525011"/>
            <a:ext cx="5541962" cy="5611813"/>
          </a:xfrm>
        </p:spPr>
      </p:pic>
    </p:spTree>
    <p:extLst>
      <p:ext uri="{BB962C8B-B14F-4D97-AF65-F5344CB8AC3E}">
        <p14:creationId xmlns:p14="http://schemas.microsoft.com/office/powerpoint/2010/main" val="715534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0DC4E1-927D-E079-2707-69977EF3339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32976" y="2084502"/>
            <a:ext cx="6045329" cy="2688995"/>
          </a:xfrm>
        </p:spPr>
        <p:txBody>
          <a:bodyPr/>
          <a:lstStyle/>
          <a:p>
            <a:r>
              <a:rPr lang="en-IN" sz="2000" dirty="0"/>
              <a:t>Future Enhancements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</a:rPr>
              <a:t>Live NAV API integration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</a:rPr>
              <a:t>Machine learning-based recommendations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err="1">
                <a:solidFill>
                  <a:schemeClr val="tx1"/>
                </a:solidFill>
              </a:rPr>
              <a:t>Streamlit</a:t>
            </a:r>
            <a:r>
              <a:rPr lang="en-IN" dirty="0">
                <a:solidFill>
                  <a:schemeClr val="tx1"/>
                </a:solidFill>
              </a:rPr>
              <a:t> web deployment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</a:rPr>
              <a:t>Monte Carlo simulation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</a:rPr>
              <a:t>Portfolio optimisation</a:t>
            </a:r>
          </a:p>
          <a:p>
            <a:endParaRPr lang="en-IN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B08E90A-9E6A-0ECC-3F76-9D18D3B91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3657030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Reflection of city at dusk on mirrored building">
            <a:extLst>
              <a:ext uri="{FF2B5EF4-FFF2-40B4-BE49-F238E27FC236}">
                <a16:creationId xmlns:a16="http://schemas.microsoft.com/office/drawing/2014/main" id="{80F641B8-D4CB-4B34-AF57-A526981DEDA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80000"/>
          </a:blip>
          <a:srcRect t="6692" b="6692"/>
          <a:stretch/>
        </p:blipFill>
        <p:spPr>
          <a:xfrm>
            <a:off x="-5606" y="0"/>
            <a:ext cx="12192000" cy="6858000"/>
          </a:xfr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48461F53-81E4-4F48-8B4D-56B6013B1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0CA4A65-0235-4CB2-B09E-4E2D8F223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6802" y="2860502"/>
            <a:ext cx="4007183" cy="2374194"/>
          </a:xfrm>
        </p:spPr>
        <p:txBody>
          <a:bodyPr/>
          <a:lstStyle/>
          <a:p>
            <a:r>
              <a:rPr lang="en-IN" sz="4800" b="1" dirty="0">
                <a:solidFill>
                  <a:schemeClr val="accent4"/>
                </a:solidFill>
              </a:rPr>
              <a:t>THANK YOU</a:t>
            </a:r>
            <a:endParaRPr lang="en-US" sz="4800" b="1" dirty="0">
              <a:solidFill>
                <a:schemeClr val="accent4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33AD71F-DA66-44DD-B812-447839E53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7CF27D1-2BD8-40D7-A92B-834F8A4F7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90F2B13-F976-4C2D-883C-E495CDF04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399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3_LW_v2" id="{C590A786-F65F-42F6-9E48-12C78E3C86B3}" vid="{FEE92C9D-6350-4ECD-87A4-004D12BB2B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Geometric presentation</Template>
  <TotalTime>60</TotalTime>
  <Words>532</Words>
  <Application>Microsoft Office PowerPoint</Application>
  <PresentationFormat>Widescreen</PresentationFormat>
  <Paragraphs>186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Biome Light</vt:lpstr>
      <vt:lpstr>Calibri</vt:lpstr>
      <vt:lpstr>Calibri Light</vt:lpstr>
      <vt:lpstr>Wingdings</vt:lpstr>
      <vt:lpstr>Office Theme</vt:lpstr>
      <vt:lpstr>BLUESTOCK MUTUAL FUND ANALYTICS CAPSTONE PROJECT</vt:lpstr>
      <vt:lpstr>Objective</vt:lpstr>
      <vt:lpstr>Tools &amp; Technologies</vt:lpstr>
      <vt:lpstr>DATASETS USED</vt:lpstr>
      <vt:lpstr>Datasets</vt:lpstr>
      <vt:lpstr>ETL &amp; DATA CLEANING</vt:lpstr>
      <vt:lpstr>DATABASE DESIGN</vt:lpstr>
      <vt:lpstr>EXPLORATORY DATA ANALYSIS</vt:lpstr>
      <vt:lpstr>EXECUTIVE DASHBOARD </vt:lpstr>
      <vt:lpstr>FUND PERFORMANCE ANALYTICS</vt:lpstr>
      <vt:lpstr>INVESTOR ANALYTICS</vt:lpstr>
      <vt:lpstr>PORTFOLIO &amp; SECTOR ANALYTICS</vt:lpstr>
      <vt:lpstr>ADVANCED ANALYTICS</vt:lpstr>
      <vt:lpstr>KEY INSIGHTS</vt:lpstr>
      <vt:lpstr>CHALLENGES FACED</vt:lpstr>
      <vt:lpstr>Conclusion </vt:lpstr>
      <vt:lpstr>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SHADY ABDUL NAZER PERINCHEERI</dc:creator>
  <cp:lastModifiedBy>SHADY ABDUL NAZER PERINCHEERI</cp:lastModifiedBy>
  <cp:revision>4</cp:revision>
  <dcterms:created xsi:type="dcterms:W3CDTF">2026-06-11T09:20:37Z</dcterms:created>
  <dcterms:modified xsi:type="dcterms:W3CDTF">2026-06-12T04:49:54Z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